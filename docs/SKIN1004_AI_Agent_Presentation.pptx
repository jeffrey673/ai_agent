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E89200"/>
                </a:solidFill>
              </a:defRPr>
            </a:pPr>
            <a:r>
              <a:t>SKIN1004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Enterprise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888888"/>
                </a:solidFill>
              </a:defRPr>
            </a:pPr>
            <a:r>
              <a:t>"What Do You Crave? — 데이터를 묻고, 답을 얻다"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888888"/>
                </a:solidFill>
              </a:defRPr>
            </a:pPr>
            <a:r>
              <a:t>Craver Corporation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발표: 임재필 (Jeffrey Im) | 데이터분석파트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2026년 3월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왜 </a:t>
            </a:r>
            <a:r>
              <a:rPr sz="3600" b="1">
                <a:solidFill>
                  <a:srgbClr val="E89200"/>
                </a:solidFill>
              </a:rPr>
              <a:t>만들었는가?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89200"/>
                </a:solidFill>
              </a:defRPr>
            </a:pPr>
            <a:r>
              <a:t>❌ 기존 업무의 문제점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매출 확인: BigQuery 콘솔 → SQL 작성 → 해석 (20분+)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문서 검색: Notion 페이지 뒤지기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CS 응대: 스프레드시트 13탭 수동 검색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메일/일정: 앱 전환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89200"/>
                </a:solidFill>
              </a:defRPr>
            </a:pPr>
            <a:r>
              <a:t>✅ AI Agent 도입 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"이번 달 인도네시아 매출 알려줘"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→ 10초 내 답변 + 차트 자동 생성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자연어로 모든 업무 데이터에 즉시 접근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SQL 몰라도 데이터 분석 가능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전직원 사용 가능 (AD 연동)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시스템 </a:t>
            </a:r>
            <a:r>
              <a:rPr sz="3600" b="1">
                <a:solidFill>
                  <a:srgbClr val="E89200"/>
                </a:solidFill>
              </a:rPr>
              <a:t>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017520" cy="9144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👤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사용자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웹 브라우저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743200"/>
            <a:ext cx="5760720" cy="109728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⚡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FastAPI + LangGraph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질문 의도 자동 분류 (6개 경로)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691640" cy="13716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📊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BQ</a:t>
            </a:r>
            <a:br/>
            <a:r>
              <a:t>매출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2606039" y="4389120"/>
            <a:ext cx="1691640" cy="13716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📋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Notion</a:t>
            </a:r>
            <a:br/>
            <a:r>
              <a:t>문서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4480559" y="4389120"/>
            <a:ext cx="1691640" cy="13716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🧴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CS</a:t>
            </a:r>
            <a:br/>
            <a:r>
              <a:t>Q&amp;A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355079" y="4389120"/>
            <a:ext cx="1691640" cy="13716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📧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GWS</a:t>
            </a:r>
            <a:br/>
            <a:r>
              <a:t>메일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8229600" y="4389120"/>
            <a:ext cx="1691640" cy="13716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📈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Multi</a:t>
            </a:r>
            <a:br/>
            <a:r>
              <a:t>종합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0104120" y="4389120"/>
            <a:ext cx="1691640" cy="13716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💬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Direct</a:t>
            </a:r>
            <a:br/>
            <a:r>
              <a:t>대화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6가지 </a:t>
            </a:r>
            <a:r>
              <a:rPr sz="3600" b="1">
                <a:solidFill>
                  <a:srgbClr val="E89200"/>
                </a:solidFill>
              </a:rPr>
              <a:t>자동 라우팅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라우트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질문 예시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처리 방식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📊 BigQuery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"이번 달 매출", "국가별 TOP 5"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자연어→SQL→실행→차트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📋 Notion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"틱톡샵 접속 방법", "출장 가이드"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사내 문서 벡터 검색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🧴 CS Q&amp;A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"센텔라 앰플 성분", "사용법"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739개 CS 키워드 검색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📧 GWS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"오늘 일정", "메일 확인"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Gmail/Calendar/Drive API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📈 Multi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"매출 하락 원인 분석"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BQ + 웹검색 종합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💬 Direct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"안녕", "날씨", "회사 소개"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Claude Sonnet 실시간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기술 </a:t>
            </a:r>
            <a:r>
              <a:rPr sz="3600" b="1">
                <a:solidFill>
                  <a:srgbClr val="E89200"/>
                </a:solidFill>
              </a:rPr>
              <a:t>스택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🤖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LLM (대화)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Claude Sonnet 4</a:t>
            </a:r>
            <a:br/>
            <a:r>
              <a:t>TTFB 2초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⚡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LLM (SQL)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Gemini 2.5 Flash</a:t>
            </a:r>
            <a:br/>
            <a:r>
              <a:t>SQL + 차트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🔄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오케스트레이션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LangGraph</a:t>
            </a:r>
            <a:br/>
            <a:r>
              <a:t>AI 워크플로우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📊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데이터베이스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BigQuery</a:t>
            </a:r>
            <a:br/>
            <a:r>
              <a:t>13개 테이블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🔐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인증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AD + JWT</a:t>
            </a:r>
            <a:br/>
            <a:r>
              <a:t>그룹 권한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🌐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프론트엔드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자체 SPA</a:t>
            </a:r>
            <a:br/>
            <a:r>
              <a:t>SSE 스트리밍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13개 </a:t>
            </a:r>
            <a:r>
              <a:rPr sz="3600" b="1">
                <a:solidFill>
                  <a:srgbClr val="E89200"/>
                </a:solidFill>
              </a:rPr>
              <a:t>데이터 소스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📊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통합 매출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3383280" y="155448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📦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제품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💰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광고비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9052560" y="155448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💵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마케팅비용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👤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인플루언서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3383280" y="320040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🔍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아마존검색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📱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메타광고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9052560" y="320040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🛒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플랫폼순위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🛍️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Shopify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3383280" y="484632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⭐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리뷰 4종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217920" y="484632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📋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Notion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9052560" y="4846320"/>
            <a:ext cx="2560320" cy="128016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🧴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CS Q&amp;A</a:t>
            </a:r>
          </a:p>
          <a:p>
            <a:pPr>
              <a:defRPr sz="1300">
                <a:solidFill>
                  <a:srgbClr val="CCCCCC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실시간 </a:t>
            </a:r>
            <a:r>
              <a:rPr sz="3600" b="1">
                <a:solidFill>
                  <a:srgbClr val="E89200"/>
                </a:solidFill>
              </a:rPr>
              <a:t>스트리밍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3657600" cy="1371600"/>
          </a:xfrm>
          <a:prstGeom prst="roundRect">
            <a:avLst/>
          </a:prstGeom>
          <a:solidFill>
            <a:srgbClr val="2A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/>
          <a:lstStyle/>
          <a:p>
            <a:pPr algn="ctr">
              <a:defRPr sz="4000" b="1">
                <a:solidFill>
                  <a:srgbClr val="E89200"/>
                </a:solidFill>
              </a:defRPr>
            </a:pPr>
            <a:r>
              <a:t>9.5초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t>이전 — 전체 완성 후 표시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4114800" cy="1371600"/>
          </a:xfrm>
          <a:prstGeom prst="roundRect">
            <a:avLst/>
          </a:prstGeom>
          <a:solidFill>
            <a:srgbClr val="2A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/>
          <a:lstStyle/>
          <a:p>
            <a:pPr algn="ctr">
              <a:defRPr sz="4000" b="1">
                <a:solidFill>
                  <a:srgbClr val="E89200"/>
                </a:solidFill>
              </a:defRPr>
            </a:pPr>
            <a:r>
              <a:t>2.0초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t>현재 — 첫 텍스트 즉시 타이핑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→  ChatGPT급 체감 속도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→  블링킹 커서 + 50ms 렌더링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→  Claude Sonnet 스트리밍 → Thread + Queue → 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속도 </a:t>
            </a:r>
            <a:r>
              <a:rPr sz="3600" b="1">
                <a:solidFill>
                  <a:srgbClr val="E89200"/>
                </a:solidFill>
              </a:rPr>
              <a:t>최적화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32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이전 (v8.2)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이후 (v9.0)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개선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일반 대화 (TTFB)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9.5초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2.0초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-79%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BQ 간단 쿼리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18.1초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9.5초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-47%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BQ 캐시 히트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18.1초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7.5초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-59%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웹검색 질문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17.7초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7.2초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-59%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754880"/>
            <a:ext cx="3200400" cy="1371600"/>
          </a:xfrm>
          <a:prstGeom prst="roundRect">
            <a:avLst/>
          </a:prstGeom>
          <a:solidFill>
            <a:srgbClr val="2A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/>
          <a:lstStyle/>
          <a:p>
            <a:pPr algn="ctr">
              <a:defRPr sz="4000" b="1">
                <a:solidFill>
                  <a:srgbClr val="E89200"/>
                </a:solidFill>
              </a:defRPr>
            </a:pPr>
            <a:r>
              <a:t>86%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t>속도 개선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1371600"/>
          </a:xfrm>
          <a:prstGeom prst="roundRect">
            <a:avLst/>
          </a:prstGeom>
          <a:solidFill>
            <a:srgbClr val="2A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/>
          <a:lstStyle/>
          <a:p>
            <a:pPr algn="ctr">
              <a:defRPr sz="4000" b="1">
                <a:solidFill>
                  <a:srgbClr val="E89200"/>
                </a:solidFill>
              </a:defRPr>
            </a:pPr>
            <a:r>
              <a:t>0건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t>Timeout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754880"/>
            <a:ext cx="3200400" cy="1371600"/>
          </a:xfrm>
          <a:prstGeom prst="roundRect">
            <a:avLst/>
          </a:prstGeom>
          <a:solidFill>
            <a:srgbClr val="2A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/>
          <a:lstStyle/>
          <a:p>
            <a:pPr algn="ctr">
              <a:defRPr sz="4000" b="1">
                <a:solidFill>
                  <a:srgbClr val="E89200"/>
                </a:solidFill>
              </a:defRPr>
            </a:pPr>
            <a:r>
              <a:t>$400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t>월 운영비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보안 &amp; </a:t>
            </a:r>
            <a:r>
              <a:rPr sz="3600" b="1">
                <a:solidFill>
                  <a:srgbClr val="E89200"/>
                </a:solidFill>
              </a:rPr>
              <a:t>권한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89200"/>
                </a:solidFill>
              </a:defRPr>
            </a:pPr>
            <a:r>
              <a:t>🔐 인증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AD 연동 — 328명 전직원 자동 등록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JWT httpOnly 쿠키 인증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GWS: 개인별 Google OAuth (타인 접근 불가)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89200"/>
                </a:solidFill>
              </a:defRPr>
            </a:pPr>
            <a:r>
              <a:t>🛡️ 데이터 보안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그룹별 데이터 접근 제한 (brand_filter)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  SK그룹: SK/CL/CBT | DD그룹: DD만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SQL 안전장치: SELECT ONLY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• 사내 서버 운영 (외부 전송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QA </a:t>
            </a:r>
            <a:r>
              <a:rPr sz="3600" b="1">
                <a:solidFill>
                  <a:srgbClr val="E89200"/>
                </a:solidFill>
              </a:rPr>
              <a:t>테스트 결과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1371600"/>
          </a:xfrm>
          <a:prstGeom prst="roundRect">
            <a:avLst/>
          </a:prstGeom>
          <a:solidFill>
            <a:srgbClr val="2A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/>
          <a:lstStyle/>
          <a:p>
            <a:pPr algn="ctr">
              <a:defRPr sz="4000" b="1">
                <a:solidFill>
                  <a:srgbClr val="E89200"/>
                </a:solidFill>
              </a:defRPr>
            </a:pPr>
            <a:r>
              <a:t>99.6%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t>API QA PASS</a:t>
            </a:r>
            <a:br/>
            <a:r>
              <a:t>(900문항)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200400" cy="1371600"/>
          </a:xfrm>
          <a:prstGeom prst="roundRect">
            <a:avLst/>
          </a:prstGeom>
          <a:solidFill>
            <a:srgbClr val="2A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/>
          <a:lstStyle/>
          <a:p>
            <a:pPr algn="ctr">
              <a:defRPr sz="4000" b="1">
                <a:solidFill>
                  <a:srgbClr val="E89200"/>
                </a:solidFill>
              </a:defRPr>
            </a:pPr>
            <a:r>
              <a:t>93%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t>Playwright E2E</a:t>
            </a:r>
            <a:br/>
            <a:r>
              <a:t>(브라우저 100문항)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200400" cy="1371600"/>
          </a:xfrm>
          <a:prstGeom prst="roundRect">
            <a:avLst/>
          </a:prstGeom>
          <a:solidFill>
            <a:srgbClr val="2A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/>
          <a:lstStyle/>
          <a:p>
            <a:pPr algn="ctr">
              <a:defRPr sz="4000" b="1">
                <a:solidFill>
                  <a:srgbClr val="E89200"/>
                </a:solidFill>
              </a:defRPr>
            </a:pPr>
            <a:r>
              <a:t>77%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t>jp2 이슈 해결</a:t>
            </a:r>
            <a:br/>
            <a:r>
              <a:t>(26건 중 20건)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9개 테이블 × 100문항 = 900건 자동 테스트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Playwright로 실제 브라우저에서 로그인 → 질문 → 답변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vs </a:t>
            </a:r>
            <a:r>
              <a:rPr sz="3600" b="1">
                <a:solidFill>
                  <a:srgbClr val="E89200"/>
                </a:solidFill>
              </a:rPr>
              <a:t>ChatGPT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SKIN1004 AI Agent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매출 데이터 조회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❌ 불가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✅ BigQuery 실시간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사내 문서 검색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❌ 불가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✅ Notion 연동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CS 제품 Q&amp;A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❌ 불가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✅ 739개 DB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메일/일정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❌ 불가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✅ 개인별 OAuth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차트 생성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⚠️ 제한적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✅ Chart.js 인터랙티브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데이터 보안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⚠️ 외부 전송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✅ 사내 서버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스트리밍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✅ ChatGPT급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사용 </a:t>
            </a:r>
            <a:r>
              <a:rPr sz="3600" b="1">
                <a:solidFill>
                  <a:srgbClr val="E89200"/>
                </a:solidFill>
              </a:rPr>
              <a:t>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1️⃣  로그인: 부서 → 이름 → 비밀번호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2️⃣  질문: 자연어로 무엇이든 입력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3️⃣  결과: 표, 차트, 인사이트 자동 생성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</a:defRPr>
            </a:pPr>
            <a:r>
              <a:t>4️⃣  후속: 대화 맥락 유지 심화 분석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474720"/>
          <a:ext cx="10332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부서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9200"/>
                          </a:solidFill>
                        </a:defRPr>
                      </a:pPr>
                      <a:r>
                        <a:t>질문 예시</a:t>
                      </a:r>
                    </a:p>
                  </a:txBody>
                  <a:tcPr>
                    <a:solidFill>
                      <a:srgbClr val="3D2E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B2B팀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"거래처별 매출 순위"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GM팀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"인도네시아 쇼피 월별 추이"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"Facebook ROAS 국가별 비교"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경영관리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"전사 1분기 실적 요약"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CS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"센텔라 앰플 성분 알려줘"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고급 </a:t>
            </a:r>
            <a:r>
              <a:rPr sz="3600" b="1">
                <a:solidFill>
                  <a:srgbClr val="E89200"/>
                </a:solidFill>
              </a:rPr>
              <a:t>기능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📈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자동 차트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바/라인/파이 차트</a:t>
            </a:r>
            <a:br/>
            <a:r>
              <a:t>자동 생성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🔍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웹 검색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날씨, 뉴스, 환율</a:t>
            </a:r>
            <a:br/>
            <a:r>
              <a:t>Google 실시간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📧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Google 연동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메일, 일정, 드라이브</a:t>
            </a:r>
            <a:br/>
            <a:r>
              <a:t>자동 OAuth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🖼️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이미지 분석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업로드 → AI 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🌍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다국어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영어/스페인어</a:t>
            </a:r>
            <a:br/>
            <a:r>
              <a:t>해당 언어 답변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200400" cy="18288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>
              <a:defRPr sz="2800"/>
            </a:pPr>
            <a:r>
              <a:t>⏹️</a:t>
            </a:r>
          </a:p>
          <a:p>
            <a:pPr>
              <a:defRPr sz="1100" b="1">
                <a:solidFill>
                  <a:srgbClr val="E89200"/>
                </a:solidFill>
              </a:defRPr>
            </a:pPr>
            <a:r>
              <a:t>생성 중지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Stop 버튼</a:t>
            </a:r>
            <a:br/>
            <a:r>
              <a:t>응답 즉시 중단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향후 </a:t>
            </a:r>
            <a:r>
              <a:rPr sz="3600" b="1">
                <a:solidFill>
                  <a:srgbClr val="E89200"/>
                </a:solidFill>
              </a:rPr>
              <a:t>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🟠 2026 Q2  자동 일일 리포트 → Slack/Teams 전송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🟠 2026 Q2  음성 입력/출력 (STT/TTS)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🔵 2026 Q3  모바일 최적화 (PWA)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🔵 2026 Q3  예측 분석 — 매출/재고 예측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🟢 2026 Q4  다국어 CS 자동 응대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</a:defRPr>
            </a:pPr>
            <a:r>
              <a:t>🟢 2027     전사 업무 자동화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89200"/>
                </a:solidFill>
              </a:defRPr>
            </a:pPr>
            <a:r>
              <a:t>비전: "모든 크레이버 직원이 데이터 분석가가 되는 세상"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E89200"/>
                </a:solidFill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888888"/>
                </a:solidFill>
              </a:defRPr>
            </a:pPr>
            <a:r>
              <a:t>"무엇이 궁금하신가요?"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CCCCCC"/>
                </a:solidFill>
              </a:defRPr>
            </a:pPr>
            <a:r>
              <a:t>🎯 실시간 데모 가능</a:t>
            </a:r>
          </a:p>
          <a:p>
            <a:pPr algn="ctr">
              <a:defRPr sz="1600">
                <a:solidFill>
                  <a:srgbClr val="888888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임재필 (Jeffrey Im)</a:t>
            </a:r>
          </a:p>
          <a:p>
            <a:pPr algn="ctr">
              <a:defRPr sz="1600">
                <a:solidFill>
                  <a:srgbClr val="888888"/>
                </a:solidFill>
              </a:defRPr>
            </a:pPr>
            <a:r>
              <a:t>jeffrey@skin1004korea.com</a:t>
            </a:r>
          </a:p>
          <a:p>
            <a:pPr algn="ctr">
              <a:defRPr sz="1600">
                <a:solidFill>
                  <a:srgbClr val="888888"/>
                </a:solidFill>
              </a:defRPr>
            </a:pPr>
          </a:p>
          <a:p>
            <a:pPr algn="ctr">
              <a:defRPr sz="1600">
                <a:solidFill>
                  <a:srgbClr val="E89200"/>
                </a:solidFill>
              </a:defRPr>
            </a:pPr>
            <a:r>
              <a:t>What Do You Crave?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